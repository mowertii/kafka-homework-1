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0"/>
            <a:ext cx="12192000" cy="2971800"/>
          </a:xfrm>
          <a:prstGeom prst="rect">
            <a:avLst/>
          </a:prstGeom>
          <a:solidFill>
            <a:srgbClr val="129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698480" cy="1554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Занятие 1. Выравнивающий модуль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86200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>
                <a:solidFill>
                  <a:srgbClr val="FFFFFF"/>
                </a:solidFill>
                <a:latin typeface="Calibri"/>
              </a:rPr>
              <a:t>Назначение Kafka, базовая архитектура, паттерны и антипаттерны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19191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18872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Перед стартом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32323"/>
                </a:solidFill>
                <a:latin typeface="Calibri"/>
              </a:rPr>
              <a:t>Проверить, идет ли запись!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546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F656E"/>
                </a:solidFill>
                <a:latin typeface="Calibri"/>
              </a:rPr>
              <a:t>Материалы занятия рассчитаны на Dev- и DevOps-аудиторию.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19191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18872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Проверка связи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32323"/>
                </a:solidFill>
                <a:latin typeface="Calibri"/>
              </a:rPr>
              <a:t>Меня хорошо видно &amp;&amp; слышно?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BEC1"/>
                </a:solidFill>
                <a:latin typeface="Calibri"/>
              </a:rPr>
              <a:t>Ставьте +, если всё хорошо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37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5F656E"/>
                </a:solidFill>
                <a:latin typeface="Calibri"/>
              </a:rPr>
              <a:t>Напишите в чат, если есть проблемы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19191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18872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Правила занятия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  <a:latin typeface="Calibri"/>
              </a:defRPr>
            </a:pPr>
            <a:r>
              <a:t>•  Активно участвуем: архитектурные решения здесь важнее «правильных терминов».</a:t>
            </a:r>
          </a:p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  <a:latin typeface="Calibri"/>
              </a:defRPr>
            </a:pPr>
            <a:r>
              <a:t>•  Вопросы задаём в чат или голосом — особенно про ваши реальные кейсы.</a:t>
            </a:r>
          </a:p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  <a:latin typeface="Calibri"/>
              </a:defRPr>
            </a:pPr>
            <a:r>
              <a:t>•  Разделяем: что гарантирует Kafka, что гарантирует клиент, а что обязано гарантировать приложение.</a:t>
            </a:r>
          </a:p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  <a:latin typeface="Calibri"/>
              </a:defRPr>
            </a:pPr>
            <a:r>
              <a:t>•  На практике будем защищать выбор: Kafka / очередь / HTTP / БД / другой инструмент.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19191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18872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Цель и результат занятия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6492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  <a:latin typeface="Calibri"/>
              </a:defRPr>
            </a:pPr>
            <a:r>
              <a:t>•  Единый понятийный аппарат: broker, topic, partition, replica, producer, consumer, consumer group.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  <a:latin typeface="Calibri"/>
              </a:defRPr>
            </a:pPr>
            <a:r>
              <a:t>•  Понимание места Kafka в event-driven и микросервисной архитектуре — без превращения Kafka в «магическую шину».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  <a:latin typeface="Calibri"/>
              </a:defRPr>
            </a:pPr>
            <a:r>
              <a:t>•  Умение разобрать цепочку producer → topic/partition → consumer group и увидеть требования к порядку, доставке и масштабированию.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  <a:latin typeface="Calibri"/>
              </a:defRPr>
            </a:pPr>
            <a:r>
              <a:t>•  Умение распознавать базовые паттерны и антипаттерны и объяснять trade-offs.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508760"/>
            <a:ext cx="4069080" cy="3429000"/>
          </a:xfrm>
          <a:prstGeom prst="roundRect">
            <a:avLst/>
          </a:prstGeom>
          <a:solidFill>
            <a:srgbClr val="E8F9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000" b="1">
                <a:solidFill>
                  <a:srgbClr val="232323"/>
                </a:solidFill>
                <a:latin typeface="Calibri"/>
              </a:rPr>
              <a:t>К концу занятия</a:t>
            </a:r>
          </a:p>
          <a:p>
            <a:pPr algn="l">
              <a:spcBef>
                <a:spcPts val="700"/>
              </a:spcBef>
            </a:pPr>
            <a:r>
              <a:rPr sz="1700">
                <a:solidFill>
                  <a:srgbClr val="5F656E"/>
                </a:solidFill>
                <a:latin typeface="Calibri"/>
              </a:rPr>
              <a:t>Участник может посмотреть на схему взаимодействия сервисов и задать правильные вопросы: ключ? порядок? группа? идемпотентность? retry? DLT? контракт? наблюдаемость?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19191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18872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Где Kafka находится в архитектуре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  <a:latin typeface="Calibri"/>
              </a:defRPr>
            </a:pPr>
            <a:r>
              <a:t>•  Kafka — распределённый commit log и платформа потокового обмена событиями, а не «удалённый вызов метода».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  <a:latin typeface="Calibri"/>
              </a:defRPr>
            </a:pPr>
            <a:r>
              <a:t>•  Producer публикует факт; потребители читают его независимо и в своём темпе.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  <a:latin typeface="Calibri"/>
              </a:defRPr>
            </a:pPr>
            <a:r>
              <a:t>•  Событие переживает конкретного consumer: хранение по retention позволяет перечитать историю.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  <a:latin typeface="Calibri"/>
              </a:defRPr>
            </a:pPr>
            <a:r>
              <a:t>•  Связность переносится с «кто кого вызывает» на контракт события, ключ и семантику обработки.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86600" y="1508760"/>
            <a:ext cx="1417320" cy="914400"/>
          </a:xfrm>
          <a:prstGeom prst="roundRect">
            <a:avLst/>
          </a:prstGeom>
          <a:solidFill>
            <a:srgbClr val="E8F9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Calibri"/>
              </a:rPr>
              <a:t>Service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508760"/>
            <a:ext cx="1417320" cy="914400"/>
          </a:xfrm>
          <a:prstGeom prst="roundRect">
            <a:avLst/>
          </a:prstGeom>
          <a:solidFill>
            <a:srgbClr val="F1F2FF"/>
          </a:solidFill>
          <a:ln w="19050">
            <a:solidFill>
              <a:srgbClr val="37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Calibri"/>
              </a:rPr>
              <a:t>Service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2788920"/>
            <a:ext cx="1920240" cy="960120"/>
          </a:xfrm>
          <a:prstGeom prst="roundRect">
            <a:avLst/>
          </a:prstGeom>
          <a:solidFill>
            <a:srgbClr val="F6F7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000" b="1">
                <a:solidFill>
                  <a:srgbClr val="232323"/>
                </a:solidFill>
                <a:latin typeface="Calibri"/>
              </a:rPr>
              <a:t>Kafka</a:t>
            </a:r>
          </a:p>
          <a:p>
            <a:pPr algn="l">
              <a:spcBef>
                <a:spcPts val="700"/>
              </a:spcBef>
            </a:pPr>
            <a:r>
              <a:rPr sz="1300">
                <a:solidFill>
                  <a:srgbClr val="5F656E"/>
                </a:solidFill>
                <a:latin typeface="Calibri"/>
              </a:rPr>
              <a:t>event 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4617720"/>
            <a:ext cx="1417320" cy="914400"/>
          </a:xfrm>
          <a:prstGeom prst="roundRect">
            <a:avLst/>
          </a:prstGeom>
          <a:solidFill>
            <a:srgbClr val="F1F2FF"/>
          </a:solidFill>
          <a:ln w="19050">
            <a:solidFill>
              <a:srgbClr val="37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Calibri"/>
              </a:rPr>
              <a:t>Service 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12680" y="4617720"/>
            <a:ext cx="1417320" cy="914400"/>
          </a:xfrm>
          <a:prstGeom prst="roundRect">
            <a:avLst/>
          </a:prstGeom>
          <a:solidFill>
            <a:srgbClr val="E8F9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Calibri"/>
              </a:rPr>
              <a:t>Analytics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0" y="2423160"/>
            <a:ext cx="822960" cy="365760"/>
          </a:xfrm>
          <a:prstGeom prst="line">
            <a:avLst/>
          </a:prstGeom>
          <a:ln w="31750">
            <a:solidFill>
              <a:srgbClr val="00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281160" y="2423160"/>
            <a:ext cx="1417320" cy="365760"/>
          </a:xfrm>
          <a:prstGeom prst="line">
            <a:avLst/>
          </a:prstGeom>
          <a:ln w="31750">
            <a:solidFill>
              <a:srgbClr val="00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772400" y="3749039"/>
            <a:ext cx="822960" cy="868681"/>
          </a:xfrm>
          <a:prstGeom prst="line">
            <a:avLst/>
          </a:prstGeom>
          <a:ln w="31750">
            <a:solidFill>
              <a:srgbClr val="00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81160" y="3749039"/>
            <a:ext cx="1417320" cy="868681"/>
          </a:xfrm>
          <a:prstGeom prst="line">
            <a:avLst/>
          </a:prstGeom>
          <a:ln w="31750">
            <a:solidFill>
              <a:srgbClr val="00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19191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18872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Базовые сущности Kafka: одна схема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965960"/>
            <a:ext cx="1508760" cy="914400"/>
          </a:xfrm>
          <a:prstGeom prst="roundRect">
            <a:avLst/>
          </a:prstGeom>
          <a:solidFill>
            <a:srgbClr val="E8F9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700" b="1">
                <a:solidFill>
                  <a:srgbClr val="232323"/>
                </a:solidFill>
                <a:latin typeface="Calibri"/>
              </a:rPr>
              <a:t>Producer</a:t>
            </a:r>
          </a:p>
          <a:p>
            <a:pPr algn="l">
              <a:spcBef>
                <a:spcPts val="700"/>
              </a:spcBef>
            </a:pPr>
            <a:r>
              <a:rPr sz="1300">
                <a:solidFill>
                  <a:srgbClr val="5F656E"/>
                </a:solidFill>
                <a:latin typeface="Calibri"/>
              </a:rPr>
              <a:t>key +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1417320"/>
            <a:ext cx="4572000" cy="3246120"/>
          </a:xfrm>
          <a:prstGeom prst="roundRect">
            <a:avLst/>
          </a:prstGeom>
          <a:solidFill>
            <a:srgbClr val="F6F7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900" b="1">
                <a:solidFill>
                  <a:srgbClr val="232323"/>
                </a:solidFill>
                <a:latin typeface="Calibri"/>
              </a:rPr>
              <a:t>Topic: orders</a:t>
            </a:r>
          </a:p>
          <a:p>
            <a:pPr algn="l">
              <a:spcBef>
                <a:spcPts val="700"/>
              </a:spcBef>
            </a:pPr>
            <a:r>
              <a:rPr sz="1600">
                <a:solidFill>
                  <a:srgbClr val="5F656E"/>
                </a:solidFill>
                <a:latin typeface="Calibri"/>
              </a:rPr>
              <a:t>partition 0   [k=42] [k=17] [k=42]
partition 1   [k=9]  [k=3]  [k=9]
partition 2   [k=81] [k=6]  [k=81]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417320"/>
            <a:ext cx="1508760" cy="914400"/>
          </a:xfrm>
          <a:prstGeom prst="roundRect">
            <a:avLst/>
          </a:prstGeom>
          <a:solidFill>
            <a:srgbClr val="F1F2FF"/>
          </a:solidFill>
          <a:ln w="19050">
            <a:solidFill>
              <a:srgbClr val="37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Calibri"/>
              </a:rPr>
              <a:t>Broker 1</a:t>
            </a:r>
          </a:p>
          <a:p>
            <a:pPr algn="l">
              <a:spcBef>
                <a:spcPts val="700"/>
              </a:spcBef>
            </a:pPr>
            <a:r>
              <a:rPr sz="1300">
                <a:solidFill>
                  <a:srgbClr val="5F656E"/>
                </a:solidFill>
                <a:latin typeface="Calibri"/>
              </a:rPr>
              <a:t>leader p0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72600" y="1417320"/>
            <a:ext cx="1508760" cy="914400"/>
          </a:xfrm>
          <a:prstGeom prst="roundRect">
            <a:avLst/>
          </a:prstGeom>
          <a:solidFill>
            <a:srgbClr val="F1F2FF"/>
          </a:solidFill>
          <a:ln w="19050">
            <a:solidFill>
              <a:srgbClr val="37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Calibri"/>
              </a:rPr>
              <a:t>Broker 2</a:t>
            </a:r>
          </a:p>
          <a:p>
            <a:pPr algn="l">
              <a:spcBef>
                <a:spcPts val="700"/>
              </a:spcBef>
            </a:pPr>
            <a:r>
              <a:rPr sz="1300">
                <a:solidFill>
                  <a:srgbClr val="5F656E"/>
                </a:solidFill>
                <a:latin typeface="Calibri"/>
              </a:rPr>
              <a:t>leader p1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2743200"/>
            <a:ext cx="1508760" cy="914400"/>
          </a:xfrm>
          <a:prstGeom prst="roundRect">
            <a:avLst/>
          </a:prstGeom>
          <a:solidFill>
            <a:srgbClr val="F1F2FF"/>
          </a:solidFill>
          <a:ln w="19050">
            <a:solidFill>
              <a:srgbClr val="37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Calibri"/>
              </a:rPr>
              <a:t>Broker 3</a:t>
            </a:r>
          </a:p>
          <a:p>
            <a:pPr algn="l">
              <a:spcBef>
                <a:spcPts val="700"/>
              </a:spcBef>
            </a:pPr>
            <a:r>
              <a:rPr sz="1300">
                <a:solidFill>
                  <a:srgbClr val="5F656E"/>
                </a:solidFill>
                <a:latin typeface="Calibri"/>
              </a:rPr>
              <a:t>leader p2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4800600"/>
            <a:ext cx="1828800" cy="822960"/>
          </a:xfrm>
          <a:prstGeom prst="roundRect">
            <a:avLst/>
          </a:prstGeom>
          <a:solidFill>
            <a:srgbClr val="E8F9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>
                <a:solidFill>
                  <a:srgbClr val="232323"/>
                </a:solidFill>
                <a:latin typeface="Calibri"/>
              </a:rPr>
              <a:t>Consumer A</a:t>
            </a:r>
          </a:p>
          <a:p>
            <a:pPr algn="l">
              <a:spcBef>
                <a:spcPts val="700"/>
              </a:spcBef>
            </a:pPr>
            <a:r>
              <a:rPr sz="1200">
                <a:solidFill>
                  <a:srgbClr val="5F656E"/>
                </a:solidFill>
                <a:latin typeface="Calibri"/>
              </a:rPr>
              <a:t>group billing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4800600"/>
            <a:ext cx="1828800" cy="822960"/>
          </a:xfrm>
          <a:prstGeom prst="roundRect">
            <a:avLst/>
          </a:prstGeom>
          <a:solidFill>
            <a:srgbClr val="E8F9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>
                <a:solidFill>
                  <a:srgbClr val="232323"/>
                </a:solidFill>
                <a:latin typeface="Calibri"/>
              </a:rPr>
              <a:t>Consumer B</a:t>
            </a:r>
          </a:p>
          <a:p>
            <a:pPr algn="l">
              <a:spcBef>
                <a:spcPts val="700"/>
              </a:spcBef>
            </a:pPr>
            <a:r>
              <a:rPr sz="1200">
                <a:solidFill>
                  <a:srgbClr val="5F656E"/>
                </a:solidFill>
                <a:latin typeface="Calibri"/>
              </a:rPr>
              <a:t>group billing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11680" y="2423160"/>
            <a:ext cx="548640" cy="0"/>
          </a:xfrm>
          <a:prstGeom prst="line">
            <a:avLst/>
          </a:prstGeom>
          <a:ln w="31750">
            <a:solidFill>
              <a:srgbClr val="00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132320" y="1874519"/>
            <a:ext cx="502920" cy="274321"/>
          </a:xfrm>
          <a:prstGeom prst="line">
            <a:avLst/>
          </a:prstGeom>
          <a:ln w="31750">
            <a:solidFill>
              <a:srgbClr val="00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132320" y="1874519"/>
            <a:ext cx="2240280" cy="868681"/>
          </a:xfrm>
          <a:prstGeom prst="line">
            <a:avLst/>
          </a:prstGeom>
          <a:ln w="31750">
            <a:solidFill>
              <a:srgbClr val="00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132320" y="3200400"/>
            <a:ext cx="1371600" cy="137160"/>
          </a:xfrm>
          <a:prstGeom prst="line">
            <a:avLst/>
          </a:prstGeom>
          <a:ln w="31750">
            <a:solidFill>
              <a:srgbClr val="00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138160" y="3749039"/>
            <a:ext cx="91440" cy="1051561"/>
          </a:xfrm>
          <a:prstGeom prst="line">
            <a:avLst/>
          </a:prstGeom>
          <a:ln w="31750">
            <a:solidFill>
              <a:srgbClr val="00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509760" y="3749039"/>
            <a:ext cx="868680" cy="1051561"/>
          </a:xfrm>
          <a:prstGeom prst="line">
            <a:avLst/>
          </a:prstGeom>
          <a:ln w="31750">
            <a:solidFill>
              <a:srgbClr val="00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5897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F656E"/>
                </a:solidFill>
                <a:latin typeface="Calibri"/>
              </a:rPr>
              <a:t>Partition — единица порядка и параллелизма. Replica — единица отказоустойчивости.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19191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18872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Partition, key и порядок: что гарантируется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6400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  <a:latin typeface="Calibri"/>
              </a:defRPr>
            </a:pPr>
            <a:r>
              <a:t>•  Kafka гарантирует порядок внутри одной partition, но не глобально между partitions.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  <a:latin typeface="Calibri"/>
              </a:defRPr>
            </a:pPr>
            <a:r>
              <a:t>•  Ключ сообщения определяет маршрутизацию: одинаковый key обычно попадает в одну partition.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  <a:latin typeface="Calibri"/>
              </a:defRPr>
            </a:pPr>
            <a:r>
              <a:t>•  Если нужен порядок событий по orderId/customerId/deviceId — этот идентификатор должен быть частью стратегии key.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  <a:latin typeface="Calibri"/>
              </a:defRPr>
            </a:pPr>
            <a:r>
              <a:t>•  Больше partitions = больше потенциального параллелизма, но также больше метаданных, файлов, реплик и rebalance-работы.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0" y="1508760"/>
            <a:ext cx="4160520" cy="960120"/>
          </a:xfrm>
          <a:prstGeom prst="roundRect">
            <a:avLst/>
          </a:prstGeom>
          <a:solidFill>
            <a:srgbClr val="E8F9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900" b="1">
                <a:solidFill>
                  <a:srgbClr val="232323"/>
                </a:solidFill>
                <a:latin typeface="Calibri"/>
              </a:rPr>
              <a:t>key = orderId</a:t>
            </a:r>
          </a:p>
          <a:p>
            <a:pPr algn="l">
              <a:spcBef>
                <a:spcPts val="700"/>
              </a:spcBef>
            </a:pPr>
            <a:r>
              <a:rPr sz="1500">
                <a:solidFill>
                  <a:srgbClr val="5F656E"/>
                </a:solidFill>
                <a:latin typeface="Calibri"/>
              </a:rPr>
              <a:t>42 → p0   17 → p1   81 → p2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2788920"/>
            <a:ext cx="4160520" cy="1097280"/>
          </a:xfrm>
          <a:prstGeom prst="roundRect">
            <a:avLst/>
          </a:prstGeom>
          <a:solidFill>
            <a:srgbClr val="F1F2FF"/>
          </a:solidFill>
          <a:ln w="19050">
            <a:solidFill>
              <a:srgbClr val="37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800" b="1">
                <a:solidFill>
                  <a:srgbClr val="232323"/>
                </a:solidFill>
                <a:latin typeface="Calibri"/>
              </a:rPr>
              <a:t>Порядок по заказу</a:t>
            </a:r>
          </a:p>
          <a:p>
            <a:pPr algn="l">
              <a:spcBef>
                <a:spcPts val="700"/>
              </a:spcBef>
            </a:pPr>
            <a:r>
              <a:rPr sz="1500">
                <a:solidFill>
                  <a:srgbClr val="5F656E"/>
                </a:solidFill>
                <a:latin typeface="Calibri"/>
              </a:rPr>
              <a:t>Created(42) → Paid(42) → Shipped(42)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4251960"/>
            <a:ext cx="4160520" cy="1325880"/>
          </a:xfrm>
          <a:prstGeom prst="roundRect">
            <a:avLst/>
          </a:prstGeom>
          <a:solidFill>
            <a:srgbClr val="FFF1F1"/>
          </a:solidFill>
          <a:ln w="19050">
            <a:solidFill>
              <a:srgbClr val="C9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800" b="1">
                <a:solidFill>
                  <a:srgbClr val="232323"/>
                </a:solidFill>
                <a:latin typeface="Calibri"/>
              </a:rPr>
              <a:t>Ошибка</a:t>
            </a:r>
          </a:p>
          <a:p>
            <a:pPr algn="l">
              <a:spcBef>
                <a:spcPts val="700"/>
              </a:spcBef>
            </a:pPr>
            <a:r>
              <a:rPr sz="1500">
                <a:solidFill>
                  <a:srgbClr val="5F656E"/>
                </a:solidFill>
                <a:latin typeface="Calibri"/>
              </a:rPr>
              <a:t>key = null при требовании порядка → связанные события могут разъехаться по partitions.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19191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18872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Consumer group: масштабирование и независимость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6126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Calibri"/>
              </a:defRPr>
            </a:pPr>
            <a:r>
              <a:t>•  Внутри одной consumer group каждая partition назначается максимум одному consumer одновременно.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Calibri"/>
              </a:defRPr>
            </a:pPr>
            <a:r>
              <a:t>•  Consumer-ов больше, чем partitions → часть экземпляров простаивает.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Calibri"/>
              </a:defRPr>
            </a:pPr>
            <a:r>
              <a:t>•  Разные бизнес-функции должны иметь разные group.id: billing, fraud, notifications читают одно событие независимо.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Calibri"/>
              </a:defRPr>
            </a:pPr>
            <a:r>
              <a:t>•  Shared group для разных бизнес-функций — антипаттерн: события будут делиться между ними, а не доставляться каждой функции.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1325880"/>
            <a:ext cx="1828800" cy="822960"/>
          </a:xfrm>
          <a:prstGeom prst="roundRect">
            <a:avLst/>
          </a:prstGeom>
          <a:solidFill>
            <a:srgbClr val="F6F7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Calibri"/>
              </a:rPr>
              <a:t>orders p0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2331720"/>
            <a:ext cx="1828800" cy="822960"/>
          </a:xfrm>
          <a:prstGeom prst="roundRect">
            <a:avLst/>
          </a:prstGeom>
          <a:solidFill>
            <a:srgbClr val="F6F7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Calibri"/>
              </a:rPr>
              <a:t>orders p1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3337560"/>
            <a:ext cx="1828800" cy="822960"/>
          </a:xfrm>
          <a:prstGeom prst="roundRect">
            <a:avLst/>
          </a:prstGeom>
          <a:solidFill>
            <a:srgbClr val="F6F7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Calibri"/>
              </a:rPr>
              <a:t>orders p2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1508760"/>
            <a:ext cx="1965960" cy="960120"/>
          </a:xfrm>
          <a:prstGeom prst="roundRect">
            <a:avLst/>
          </a:prstGeom>
          <a:solidFill>
            <a:srgbClr val="F1F2FF"/>
          </a:solidFill>
          <a:ln w="19050">
            <a:solidFill>
              <a:srgbClr val="37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Calibri"/>
              </a:rPr>
              <a:t>billing-1</a:t>
            </a:r>
          </a:p>
          <a:p>
            <a:pPr algn="l">
              <a:spcBef>
                <a:spcPts val="700"/>
              </a:spcBef>
            </a:pPr>
            <a:r>
              <a:rPr sz="1200">
                <a:solidFill>
                  <a:srgbClr val="5F656E"/>
                </a:solidFill>
                <a:latin typeface="Calibri"/>
              </a:rPr>
              <a:t>group=billing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2788920"/>
            <a:ext cx="1965960" cy="960120"/>
          </a:xfrm>
          <a:prstGeom prst="roundRect">
            <a:avLst/>
          </a:prstGeom>
          <a:solidFill>
            <a:srgbClr val="F1F2FF"/>
          </a:solidFill>
          <a:ln w="19050">
            <a:solidFill>
              <a:srgbClr val="37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Calibri"/>
              </a:rPr>
              <a:t>billing-2</a:t>
            </a:r>
          </a:p>
          <a:p>
            <a:pPr algn="l">
              <a:spcBef>
                <a:spcPts val="700"/>
              </a:spcBef>
            </a:pPr>
            <a:r>
              <a:rPr sz="1200">
                <a:solidFill>
                  <a:srgbClr val="5F656E"/>
                </a:solidFill>
                <a:latin typeface="Calibri"/>
              </a:rPr>
              <a:t>group=billing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4251960"/>
            <a:ext cx="1965960" cy="960120"/>
          </a:xfrm>
          <a:prstGeom prst="roundRect">
            <a:avLst/>
          </a:prstGeom>
          <a:solidFill>
            <a:srgbClr val="E8F9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Calibri"/>
              </a:rPr>
              <a:t>fraud-1</a:t>
            </a:r>
          </a:p>
          <a:p>
            <a:pPr algn="l">
              <a:spcBef>
                <a:spcPts val="700"/>
              </a:spcBef>
            </a:pPr>
            <a:r>
              <a:rPr sz="1200">
                <a:solidFill>
                  <a:srgbClr val="5F656E"/>
                </a:solidFill>
                <a:latin typeface="Calibri"/>
              </a:rPr>
              <a:t>group=fraud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78240" y="1737360"/>
            <a:ext cx="548640" cy="182880"/>
          </a:xfrm>
          <a:prstGeom prst="line">
            <a:avLst/>
          </a:prstGeom>
          <a:ln w="31750">
            <a:solidFill>
              <a:srgbClr val="00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778240" y="2743200"/>
            <a:ext cx="548640" cy="457200"/>
          </a:xfrm>
          <a:prstGeom prst="line">
            <a:avLst/>
          </a:prstGeom>
          <a:ln w="31750">
            <a:solidFill>
              <a:srgbClr val="00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778240" y="3749039"/>
            <a:ext cx="548640" cy="822961"/>
          </a:xfrm>
          <a:prstGeom prst="line">
            <a:avLst/>
          </a:prstGeom>
          <a:ln w="31750">
            <a:solidFill>
              <a:srgbClr val="00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19191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18872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Когда Kafka — подходящий инструмент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429000" cy="1600200"/>
          </a:xfrm>
          <a:prstGeom prst="roundRect">
            <a:avLst/>
          </a:prstGeom>
          <a:solidFill>
            <a:srgbClr val="E8F9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800" b="1">
                <a:solidFill>
                  <a:srgbClr val="232323"/>
                </a:solidFill>
                <a:latin typeface="Calibri"/>
              </a:rPr>
              <a:t>Много потребителей</a:t>
            </a:r>
          </a:p>
          <a:p>
            <a:pPr algn="l">
              <a:spcBef>
                <a:spcPts val="700"/>
              </a:spcBef>
            </a:pPr>
            <a:r>
              <a:rPr sz="1400">
                <a:solidFill>
                  <a:srgbClr val="5F656E"/>
                </a:solidFill>
                <a:latin typeface="Calibri"/>
              </a:rPr>
              <a:t>Одно событие нужно нескольким независимым системам.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17320"/>
            <a:ext cx="3429000" cy="1600200"/>
          </a:xfrm>
          <a:prstGeom prst="roundRect">
            <a:avLst/>
          </a:prstGeom>
          <a:solidFill>
            <a:srgbClr val="F1F2FF"/>
          </a:solidFill>
          <a:ln w="19050">
            <a:solidFill>
              <a:srgbClr val="37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800" b="1">
                <a:solidFill>
                  <a:srgbClr val="232323"/>
                </a:solidFill>
                <a:latin typeface="Calibri"/>
              </a:rPr>
              <a:t>Буферизация</a:t>
            </a:r>
          </a:p>
          <a:p>
            <a:pPr algn="l">
              <a:spcBef>
                <a:spcPts val="700"/>
              </a:spcBef>
            </a:pPr>
            <a:r>
              <a:rPr sz="1400">
                <a:solidFill>
                  <a:srgbClr val="5F656E"/>
                </a:solidFill>
                <a:latin typeface="Calibri"/>
              </a:rPr>
              <a:t>Producer и consumer живут с разной скоростью; пики нужно сглаживать.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417320"/>
            <a:ext cx="3429000" cy="1600200"/>
          </a:xfrm>
          <a:prstGeom prst="roundRect">
            <a:avLst/>
          </a:prstGeom>
          <a:solidFill>
            <a:srgbClr val="E8F9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800" b="1">
                <a:solidFill>
                  <a:srgbClr val="232323"/>
                </a:solidFill>
                <a:latin typeface="Calibri"/>
              </a:rPr>
              <a:t>Replay</a:t>
            </a:r>
          </a:p>
          <a:p>
            <a:pPr algn="l">
              <a:spcBef>
                <a:spcPts val="700"/>
              </a:spcBef>
            </a:pPr>
            <a:r>
              <a:rPr sz="1400">
                <a:solidFill>
                  <a:srgbClr val="5F656E"/>
                </a:solidFill>
                <a:latin typeface="Calibri"/>
              </a:rPr>
              <a:t>Нужно повторно обработать историю после исправления логики.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474720"/>
            <a:ext cx="3429000" cy="1600200"/>
          </a:xfrm>
          <a:prstGeom prst="roundRect">
            <a:avLst/>
          </a:prstGeom>
          <a:solidFill>
            <a:srgbClr val="F1F2FF"/>
          </a:solidFill>
          <a:ln w="19050">
            <a:solidFill>
              <a:srgbClr val="37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800" b="1">
                <a:solidFill>
                  <a:srgbClr val="232323"/>
                </a:solidFill>
                <a:latin typeface="Calibri"/>
              </a:rPr>
              <a:t>Потоковая обработка</a:t>
            </a:r>
          </a:p>
          <a:p>
            <a:pPr algn="l">
              <a:spcBef>
                <a:spcPts val="700"/>
              </a:spcBef>
            </a:pPr>
            <a:r>
              <a:rPr sz="1400">
                <a:solidFill>
                  <a:srgbClr val="5F656E"/>
                </a:solidFill>
                <a:latin typeface="Calibri"/>
              </a:rPr>
              <a:t>Агрегации, enrichment, joins, near-real-time pipelines.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474720"/>
            <a:ext cx="3429000" cy="1600200"/>
          </a:xfrm>
          <a:prstGeom prst="roundRect">
            <a:avLst/>
          </a:prstGeom>
          <a:solidFill>
            <a:srgbClr val="E8F9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800" b="1">
                <a:solidFill>
                  <a:srgbClr val="232323"/>
                </a:solidFill>
                <a:latin typeface="Calibri"/>
              </a:rPr>
              <a:t>Интеграции ИС</a:t>
            </a:r>
          </a:p>
          <a:p>
            <a:pPr algn="l">
              <a:spcBef>
                <a:spcPts val="700"/>
              </a:spcBef>
            </a:pPr>
            <a:r>
              <a:rPr sz="1400">
                <a:solidFill>
                  <a:srgbClr val="5F656E"/>
                </a:solidFill>
                <a:latin typeface="Calibri"/>
              </a:rPr>
              <a:t>Слабая временная связность и устойчивость к недоступности получателя.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474720"/>
            <a:ext cx="3429000" cy="1600200"/>
          </a:xfrm>
          <a:prstGeom prst="roundRect">
            <a:avLst/>
          </a:prstGeom>
          <a:solidFill>
            <a:srgbClr val="F1F2FF"/>
          </a:solidFill>
          <a:ln w="19050">
            <a:solidFill>
              <a:srgbClr val="37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800" b="1">
                <a:solidFill>
                  <a:srgbClr val="232323"/>
                </a:solidFill>
                <a:latin typeface="Calibri"/>
              </a:rPr>
              <a:t>Audit/event log</a:t>
            </a:r>
          </a:p>
          <a:p>
            <a:pPr algn="l">
              <a:spcBef>
                <a:spcPts val="700"/>
              </a:spcBef>
            </a:pPr>
            <a:r>
              <a:rPr sz="1400">
                <a:solidFill>
                  <a:srgbClr val="5F656E"/>
                </a:solidFill>
                <a:latin typeface="Calibri"/>
              </a:rPr>
              <a:t>Нужен последовательный журнал бизнес-событий с retention.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19191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18872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Когда Kafka использовать не стоит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Calibri"/>
              </a:defRPr>
            </a:pPr>
            <a:r>
              <a:t>•  Нужен синхронный request/response с ответом за миллисекунды и понятным timeout — HTTP/gRPC обычно проще.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Calibri"/>
              </a:defRPr>
            </a:pPr>
            <a:r>
              <a:t>•  Нагрузка мала, один producer и один consumer, нет replay/масштабирования/независимых подписчиков — очередь или БД может быть дешевле.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Calibri"/>
              </a:defRPr>
            </a:pPr>
            <a:r>
              <a:t>•  Нужна транзакция «изменить несколько записей и сразу прочитать консистентный результат» — Kafka не заменяет OLTP-БД.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Calibri"/>
              </a:defRPr>
            </a:pPr>
            <a:r>
              <a:t>•  Команда не готова эксплуатировать distributed system: partitions, retention, ACL, lag, rebalance, schema evolution, capacity planning.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Calibri"/>
              </a:defRPr>
            </a:pPr>
            <a:r>
              <a:t>•  События используются только как способ скрыть плохие границы сервисов — асинхронность не исправляет доменную модель.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89788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BEC1"/>
                </a:solidFill>
                <a:latin typeface="Calibri"/>
              </a:rPr>
              <a:t>Критерий: Kafka должна покупать вам конкретное свойство системы, а не просто добавлять технологию.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19191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18872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Два базовых стиля событий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257800" cy="4434840"/>
          </a:xfrm>
          <a:prstGeom prst="roundRect">
            <a:avLst/>
          </a:prstGeom>
          <a:solidFill>
            <a:srgbClr val="E8F9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200" b="1">
                <a:solidFill>
                  <a:srgbClr val="232323"/>
                </a:solidFill>
                <a:latin typeface="Calibri"/>
              </a:rPr>
              <a:t>Event Notification</a:t>
            </a:r>
          </a:p>
          <a:p>
            <a:pPr algn="l">
              <a:spcBef>
                <a:spcPts val="700"/>
              </a:spcBef>
            </a:pPr>
            <a:r>
              <a:rPr sz="1700">
                <a:solidFill>
                  <a:srgbClr val="5F656E"/>
                </a:solidFill>
                <a:latin typeface="Calibri"/>
              </a:rPr>
              <a:t>Событие сообщает: «что-то произошло».
Пример: OrderPaid { orderId, occurredAt }
Плюсы: маленький контракт, слабее утечка модели.
Минусы: consumer часто должен сходить за данными; появляется runtime-связность.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417320"/>
            <a:ext cx="5257800" cy="4434840"/>
          </a:xfrm>
          <a:prstGeom prst="roundRect">
            <a:avLst/>
          </a:prstGeom>
          <a:solidFill>
            <a:srgbClr val="F1F2FF"/>
          </a:solidFill>
          <a:ln w="19050">
            <a:solidFill>
              <a:srgbClr val="37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200" b="1">
                <a:solidFill>
                  <a:srgbClr val="232323"/>
                </a:solidFill>
                <a:latin typeface="Calibri"/>
              </a:rPr>
              <a:t>Event-Carried State Transfer</a:t>
            </a:r>
          </a:p>
          <a:p>
            <a:pPr algn="l">
              <a:spcBef>
                <a:spcPts val="700"/>
              </a:spcBef>
            </a:pPr>
            <a:r>
              <a:rPr sz="1700">
                <a:solidFill>
                  <a:srgbClr val="5F656E"/>
                </a:solidFill>
                <a:latin typeface="Calibri"/>
              </a:rPr>
              <a:t>Событие несёт данные, необходимые потребителю.
Пример: CustomerChanged { id, name, segment, status, version }
Плюсы: consumer автономнее, меньше синхронных запросов.
Минусы: шире контракт, дублирование данных, сложнее schema evolution.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19191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18872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Transactional Outbox: убрать dual 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6035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•  Проблема: сервис записал бизнес-данные в БД, но упал до publish в Kafka — состояние и событие разошлись.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•  Outbox: бизнес-изменение и запись события выполняются одной локальной DB-транзакцией.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•  Отдельный relay/CDC публикует outbox-записи в Kafka; после сбоя публикацию можно повторить.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•  Цена: дополнительная таблица/CDC, мониторинг backlog, дедупликация на стороне downstream.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417320"/>
            <a:ext cx="1645920" cy="914400"/>
          </a:xfrm>
          <a:prstGeom prst="roundRect">
            <a:avLst/>
          </a:prstGeom>
          <a:solidFill>
            <a:srgbClr val="E8F9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700" b="1">
                <a:solidFill>
                  <a:srgbClr val="232323"/>
                </a:solidFill>
                <a:latin typeface="Calibri"/>
              </a:rPr>
              <a:t>Service</a:t>
            </a:r>
          </a:p>
          <a:p>
            <a:pPr algn="l">
              <a:spcBef>
                <a:spcPts val="700"/>
              </a:spcBef>
            </a:pPr>
            <a:r>
              <a:rPr sz="1200">
                <a:solidFill>
                  <a:srgbClr val="5F656E"/>
                </a:solidFill>
                <a:latin typeface="Calibri"/>
              </a:rPr>
              <a:t>tx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143000"/>
            <a:ext cx="1828800" cy="914400"/>
          </a:xfrm>
          <a:prstGeom prst="roundRect">
            <a:avLst/>
          </a:prstGeom>
          <a:solidFill>
            <a:srgbClr val="F1F2FF"/>
          </a:solidFill>
          <a:ln w="19050">
            <a:solidFill>
              <a:srgbClr val="37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Calibri"/>
              </a:rPr>
              <a:t>Business DB</a:t>
            </a:r>
          </a:p>
          <a:p>
            <a:pPr algn="l">
              <a:spcBef>
                <a:spcPts val="700"/>
              </a:spcBef>
            </a:pPr>
            <a:r>
              <a:rPr sz="1200">
                <a:solidFill>
                  <a:srgbClr val="5F656E"/>
                </a:solidFill>
                <a:latin typeface="Calibri"/>
              </a:rPr>
              <a:t>orders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2514600"/>
            <a:ext cx="1828800" cy="914400"/>
          </a:xfrm>
          <a:prstGeom prst="roundRect">
            <a:avLst/>
          </a:prstGeom>
          <a:solidFill>
            <a:srgbClr val="E8F9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Calibri"/>
              </a:rPr>
              <a:t>Outbox</a:t>
            </a:r>
          </a:p>
          <a:p>
            <a:pPr algn="l">
              <a:spcBef>
                <a:spcPts val="700"/>
              </a:spcBef>
            </a:pPr>
            <a:r>
              <a:rPr sz="1200">
                <a:solidFill>
                  <a:srgbClr val="5F656E"/>
                </a:solidFill>
                <a:latin typeface="Calibri"/>
              </a:rPr>
              <a:t>events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3886200"/>
            <a:ext cx="1645920" cy="914400"/>
          </a:xfrm>
          <a:prstGeom prst="roundRect">
            <a:avLst/>
          </a:prstGeom>
          <a:solidFill>
            <a:srgbClr val="F1F2FF"/>
          </a:solidFill>
          <a:ln w="19050">
            <a:solidFill>
              <a:srgbClr val="37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Calibri"/>
              </a:rPr>
              <a:t>Relay / CDC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3886200"/>
            <a:ext cx="1828800" cy="914400"/>
          </a:xfrm>
          <a:prstGeom prst="roundRect">
            <a:avLst/>
          </a:prstGeom>
          <a:solidFill>
            <a:srgbClr val="F6F7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700" b="1">
                <a:solidFill>
                  <a:srgbClr val="232323"/>
                </a:solidFill>
                <a:latin typeface="Calibri"/>
              </a:rPr>
              <a:t>Kafka</a:t>
            </a:r>
          </a:p>
          <a:p>
            <a:pPr algn="l">
              <a:spcBef>
                <a:spcPts val="700"/>
              </a:spcBef>
            </a:pPr>
            <a:r>
              <a:rPr sz="1200">
                <a:solidFill>
                  <a:srgbClr val="5F656E"/>
                </a:solidFill>
                <a:latin typeface="Calibri"/>
              </a:rPr>
              <a:t>orders.events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8503920" y="1600200"/>
            <a:ext cx="731520" cy="182880"/>
          </a:xfrm>
          <a:prstGeom prst="line">
            <a:avLst/>
          </a:prstGeom>
          <a:ln w="31750">
            <a:solidFill>
              <a:srgbClr val="00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03920" y="2057400"/>
            <a:ext cx="731520" cy="822960"/>
          </a:xfrm>
          <a:prstGeom prst="line">
            <a:avLst/>
          </a:prstGeom>
          <a:ln w="31750">
            <a:solidFill>
              <a:srgbClr val="00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503920" y="3246120"/>
            <a:ext cx="731520" cy="1005840"/>
          </a:xfrm>
          <a:prstGeom prst="line">
            <a:avLst/>
          </a:prstGeom>
          <a:ln w="31750">
            <a:solidFill>
              <a:srgbClr val="00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503920" y="4343400"/>
            <a:ext cx="731520" cy="0"/>
          </a:xfrm>
          <a:prstGeom prst="line">
            <a:avLst/>
          </a:prstGeom>
          <a:ln w="31750">
            <a:solidFill>
              <a:srgbClr val="00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19191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18872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Inbox / idempotent consumer: «повтор» — нормальный случай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6400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Calibri"/>
              </a:defRPr>
            </a:pPr>
            <a:r>
              <a:t>•  At-least-once обработка означает: одно и то же событие может быть доставлено повторно.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Calibri"/>
              </a:defRPr>
            </a:pPr>
            <a:r>
              <a:t>•  Идемпотентный consumer делает повтор безопасным: проверяет eventId/business key или применяет операцию с естественной идемпотентностью.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Calibri"/>
              </a:defRPr>
            </a:pPr>
            <a:r>
              <a:t>•  Inbox хранит идентификаторы уже обработанных сообщений рядом с бизнес-транзакцией consumer-а.</a:t>
            </a:r>
          </a:p>
          <a:p>
            <a:pPr>
              <a:spcAft>
                <a:spcPts val="1200"/>
              </a:spcAft>
              <a:defRPr sz="1900">
                <a:solidFill>
                  <a:srgbClr val="232323"/>
                </a:solidFill>
                <a:latin typeface="Calibri"/>
              </a:defRPr>
            </a:pPr>
            <a:r>
              <a:t>•  Offset следует фиксировать только после успешной бизнес-обработки; иначе можно потерять событие.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0" y="1417320"/>
            <a:ext cx="4023360" cy="960120"/>
          </a:xfrm>
          <a:prstGeom prst="roundRect">
            <a:avLst/>
          </a:prstGeom>
          <a:solidFill>
            <a:srgbClr val="E8F9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800" b="1">
                <a:solidFill>
                  <a:srgbClr val="232323"/>
                </a:solidFill>
                <a:latin typeface="Calibri"/>
              </a:rPr>
              <a:t>eventId = e-123</a:t>
            </a:r>
          </a:p>
          <a:p>
            <a:pPr algn="l">
              <a:spcBef>
                <a:spcPts val="700"/>
              </a:spcBef>
            </a:pPr>
            <a:r>
              <a:rPr sz="1400">
                <a:solidFill>
                  <a:srgbClr val="5F656E"/>
                </a:solidFill>
                <a:latin typeface="Calibri"/>
              </a:rPr>
              <a:t>OrderPaid(orderId=42)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2788920"/>
            <a:ext cx="4023360" cy="1051560"/>
          </a:xfrm>
          <a:prstGeom prst="roundRect">
            <a:avLst/>
          </a:prstGeom>
          <a:solidFill>
            <a:srgbClr val="F1F2FF"/>
          </a:solidFill>
          <a:ln w="19050">
            <a:solidFill>
              <a:srgbClr val="37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800" b="1">
                <a:solidFill>
                  <a:srgbClr val="232323"/>
                </a:solidFill>
                <a:latin typeface="Calibri"/>
              </a:rPr>
              <a:t>Inbox</a:t>
            </a:r>
          </a:p>
          <a:p>
            <a:pPr algn="l">
              <a:spcBef>
                <a:spcPts val="700"/>
              </a:spcBef>
            </a:pPr>
            <a:r>
              <a:rPr sz="1500">
                <a:solidFill>
                  <a:srgbClr val="5F656E"/>
                </a:solidFill>
                <a:latin typeface="Calibri"/>
              </a:rPr>
              <a:t>e-123 уже есть? → skip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4251960"/>
            <a:ext cx="4023360" cy="1143000"/>
          </a:xfrm>
          <a:prstGeom prst="roundRect">
            <a:avLst/>
          </a:prstGeom>
          <a:solidFill>
            <a:srgbClr val="F6F7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800" b="1">
                <a:solidFill>
                  <a:srgbClr val="232323"/>
                </a:solidFill>
                <a:latin typeface="Calibri"/>
              </a:rPr>
              <a:t>Business DB</a:t>
            </a:r>
          </a:p>
          <a:p>
            <a:pPr algn="l">
              <a:spcBef>
                <a:spcPts val="700"/>
              </a:spcBef>
            </a:pPr>
            <a:r>
              <a:rPr sz="1400">
                <a:solidFill>
                  <a:srgbClr val="5F656E"/>
                </a:solidFill>
                <a:latin typeface="Calibri"/>
              </a:rPr>
              <a:t>если нет: изменить состояние + записать e-123 в одной 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19191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18872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CQRS и saga choreography: где Kafka полезна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291840" cy="4297680"/>
          </a:xfrm>
          <a:prstGeom prst="roundRect">
            <a:avLst/>
          </a:prstGeom>
          <a:solidFill>
            <a:srgbClr val="E8F9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200" b="1">
                <a:solidFill>
                  <a:srgbClr val="232323"/>
                </a:solidFill>
                <a:latin typeface="Calibri"/>
              </a:rPr>
              <a:t>CQRS</a:t>
            </a:r>
          </a:p>
          <a:p>
            <a:pPr algn="l">
              <a:spcBef>
                <a:spcPts val="700"/>
              </a:spcBef>
            </a:pPr>
            <a:r>
              <a:rPr sz="1700">
                <a:solidFill>
                  <a:srgbClr val="5F656E"/>
                </a:solidFill>
                <a:latin typeface="Calibri"/>
              </a:rPr>
              <a:t>Command-side публикует доменные события.
Read-model consumer строит проекции под чтение.
Kafka удобна для replay и независимого масштабирования проекций.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417320"/>
            <a:ext cx="3291840" cy="4297680"/>
          </a:xfrm>
          <a:prstGeom prst="roundRect">
            <a:avLst/>
          </a:prstGeom>
          <a:solidFill>
            <a:srgbClr val="F1F2FF"/>
          </a:solidFill>
          <a:ln w="19050">
            <a:solidFill>
              <a:srgbClr val="37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200" b="1">
                <a:solidFill>
                  <a:srgbClr val="232323"/>
                </a:solidFill>
                <a:latin typeface="Calibri"/>
              </a:rPr>
              <a:t>Saga choreography</a:t>
            </a:r>
          </a:p>
          <a:p>
            <a:pPr algn="l">
              <a:spcBef>
                <a:spcPts val="700"/>
              </a:spcBef>
            </a:pPr>
            <a:r>
              <a:rPr sz="1700">
                <a:solidFill>
                  <a:srgbClr val="5F656E"/>
                </a:solidFill>
                <a:latin typeface="Calibri"/>
              </a:rPr>
              <a:t>Каждый сервис реагирует на событие и публикует следующее.
OrderCreated → PaymentReserved → StockReserved → OrderConfirmed.
Нужны компенсации и наблюдаемость.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417320"/>
            <a:ext cx="3291840" cy="4297680"/>
          </a:xfrm>
          <a:prstGeom prst="roundRect">
            <a:avLst/>
          </a:prstGeom>
          <a:solidFill>
            <a:srgbClr val="F6F7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200" b="1">
                <a:solidFill>
                  <a:srgbClr val="232323"/>
                </a:solidFill>
                <a:latin typeface="Calibri"/>
              </a:rPr>
              <a:t>Trade-off</a:t>
            </a:r>
          </a:p>
          <a:p>
            <a:pPr algn="l">
              <a:spcBef>
                <a:spcPts val="700"/>
              </a:spcBef>
            </a:pPr>
            <a:r>
              <a:rPr sz="1700">
                <a:solidFill>
                  <a:srgbClr val="5F656E"/>
                </a:solidFill>
                <a:latin typeface="Calibri"/>
              </a:rPr>
              <a:t>Плюс: нет центрального оркестратора.
Минус: поток процесса распределён по сервисам; сложнее понять «где застряла сага».
Для сложных процессов orchestration часто прозрачнее.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19191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18872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Retry topic и DLT: ошибка — часть дизайна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2057400" cy="914400"/>
          </a:xfrm>
          <a:prstGeom prst="roundRect">
            <a:avLst/>
          </a:prstGeom>
          <a:solidFill>
            <a:srgbClr val="E8F9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700" b="1">
                <a:solidFill>
                  <a:srgbClr val="232323"/>
                </a:solidFill>
                <a:latin typeface="Calibri"/>
              </a:rPr>
              <a:t>orders.events</a:t>
            </a:r>
          </a:p>
          <a:p>
            <a:pPr algn="l">
              <a:spcBef>
                <a:spcPts val="700"/>
              </a:spcBef>
            </a:pPr>
            <a:r>
              <a:rPr sz="1200">
                <a:solidFill>
                  <a:srgbClr val="5F656E"/>
                </a:solidFill>
                <a:latin typeface="Calibri"/>
              </a:rPr>
              <a:t>main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508760"/>
            <a:ext cx="2057400" cy="914400"/>
          </a:xfrm>
          <a:prstGeom prst="roundRect">
            <a:avLst/>
          </a:prstGeom>
          <a:solidFill>
            <a:srgbClr val="F1F2FF"/>
          </a:solidFill>
          <a:ln w="19050">
            <a:solidFill>
              <a:srgbClr val="37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700" b="1">
                <a:solidFill>
                  <a:srgbClr val="232323"/>
                </a:solidFill>
                <a:latin typeface="Calibri"/>
              </a:rPr>
              <a:t>orders.retry.1</a:t>
            </a:r>
          </a:p>
          <a:p>
            <a:pPr algn="l">
              <a:spcBef>
                <a:spcPts val="700"/>
              </a:spcBef>
            </a:pPr>
            <a:r>
              <a:rPr sz="1200">
                <a:solidFill>
                  <a:srgbClr val="5F656E"/>
                </a:solidFill>
                <a:latin typeface="Calibri"/>
              </a:rPr>
              <a:t>30 sec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508760"/>
            <a:ext cx="2057400" cy="914400"/>
          </a:xfrm>
          <a:prstGeom prst="roundRect">
            <a:avLst/>
          </a:prstGeom>
          <a:solidFill>
            <a:srgbClr val="F1F2FF"/>
          </a:solidFill>
          <a:ln w="19050">
            <a:solidFill>
              <a:srgbClr val="37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700" b="1">
                <a:solidFill>
                  <a:srgbClr val="232323"/>
                </a:solidFill>
                <a:latin typeface="Calibri"/>
              </a:rPr>
              <a:t>orders.retry.2</a:t>
            </a:r>
          </a:p>
          <a:p>
            <a:pPr algn="l">
              <a:spcBef>
                <a:spcPts val="700"/>
              </a:spcBef>
            </a:pPr>
            <a:r>
              <a:rPr sz="1200">
                <a:solidFill>
                  <a:srgbClr val="5F656E"/>
                </a:solidFill>
                <a:latin typeface="Calibri"/>
              </a:rPr>
              <a:t>5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1508760"/>
            <a:ext cx="2057400" cy="914400"/>
          </a:xfrm>
          <a:prstGeom prst="roundRect">
            <a:avLst/>
          </a:prstGeom>
          <a:solidFill>
            <a:srgbClr val="FFF1F1"/>
          </a:solidFill>
          <a:ln w="19050">
            <a:solidFill>
              <a:srgbClr val="C9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700" b="1">
                <a:solidFill>
                  <a:srgbClr val="232323"/>
                </a:solidFill>
                <a:latin typeface="Calibri"/>
              </a:rPr>
              <a:t>orders.dlt</a:t>
            </a:r>
          </a:p>
          <a:p>
            <a:pPr algn="l">
              <a:spcBef>
                <a:spcPts val="700"/>
              </a:spcBef>
            </a:pPr>
            <a:r>
              <a:rPr sz="1200">
                <a:solidFill>
                  <a:srgbClr val="5F656E"/>
                </a:solidFill>
                <a:latin typeface="Calibri"/>
              </a:rPr>
              <a:t>manual/process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97480" y="1965960"/>
            <a:ext cx="960120" cy="0"/>
          </a:xfrm>
          <a:prstGeom prst="line">
            <a:avLst/>
          </a:prstGeom>
          <a:ln w="31750">
            <a:solidFill>
              <a:srgbClr val="00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15000" y="1965960"/>
            <a:ext cx="960120" cy="0"/>
          </a:xfrm>
          <a:prstGeom prst="line">
            <a:avLst/>
          </a:prstGeom>
          <a:ln w="31750">
            <a:solidFill>
              <a:srgbClr val="00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32520" y="1965960"/>
            <a:ext cx="777240" cy="0"/>
          </a:xfrm>
          <a:prstGeom prst="line">
            <a:avLst/>
          </a:prstGeom>
          <a:ln w="31750">
            <a:solidFill>
              <a:srgbClr val="00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297180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•  Retry должен быть ограниченным и иметь backoff; бесконечный retry блокирует прогресс и маскирует постоянную ошибку.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•  Разделяйте transient и permanent errors: timeout ≠ invalid schema ≠ business rejection.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•  DLT без процесса разбора — просто кладбище сообщений. Нужны owner, SLA, метрики, причина и способ replay.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•  Повторная отправка из DLT должна сохранять trace/event identifiers и быть безопасной для consumer-а.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19191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18872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Контракт события: минимальный enterprise-набор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486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Courier New"/>
              </a:rPr>
              <a:t>{
  "eventId": "uuid",
  "eventType": "OrderPaid",
  "eventVersion": 2,
  "occurredAt": "2026-08-15T10:15:30Z",
  "producer": "payment-service",
  "correlationId": "uuid",
  "payload": {
    "orderId": "42",
    "paymentId": "p-901",
    "amount": 12500,
    "currency": "RUB"
  }
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1732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•  eventId — дедупликация и трассировка.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•  eventType + version — явная эволюция.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•  occurredAt — бизнес-время события, не время чтения.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•  correlationId — связать цепочку сервисов.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•  payload — только данные, которые действительно являются частью контракта.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•  Schema compatibility: producer не должен ломать уже развернутых consumers.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19191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18872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Антипаттерны I: архитектурные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2743200" cy="960120"/>
          </a:xfrm>
          <a:prstGeom prst="roundRect">
            <a:avLst/>
          </a:prstGeom>
          <a:solidFill>
            <a:srgbClr val="FFF1F1"/>
          </a:solidFill>
          <a:ln w="19050">
            <a:solidFill>
              <a:srgbClr val="C9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Calibri"/>
              </a:rPr>
              <a:t>Kafka как sync RPC</a:t>
            </a:r>
          </a:p>
          <a:p>
            <a:pPr algn="l">
              <a:spcBef>
                <a:spcPts val="700"/>
              </a:spcBef>
            </a:pPr>
            <a:r>
              <a:rPr sz="1100">
                <a:solidFill>
                  <a:srgbClr val="5F656E"/>
                </a:solidFill>
                <a:latin typeface="Calibri"/>
              </a:rPr>
              <a:t>Producer ждёт «ответное событие» и держит пользовательский запрос.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383280" y="1801368"/>
            <a:ext cx="594359" cy="0"/>
          </a:xfrm>
          <a:prstGeom prst="line">
            <a:avLst/>
          </a:prstGeom>
          <a:ln w="25400">
            <a:solidFill>
              <a:srgbClr val="C9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069080" y="1325880"/>
            <a:ext cx="7452360" cy="960120"/>
          </a:xfrm>
          <a:prstGeom prst="roundRect">
            <a:avLst/>
          </a:prstGeom>
          <a:solidFill>
            <a:srgbClr val="E8F9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>
                <a:solidFill>
                  <a:srgbClr val="232323"/>
                </a:solidFill>
                <a:latin typeface="Calibri"/>
              </a:rPr>
              <a:t>Рефакторинг</a:t>
            </a:r>
          </a:p>
          <a:p>
            <a:pPr algn="l">
              <a:spcBef>
                <a:spcPts val="700"/>
              </a:spcBef>
            </a:pPr>
            <a:r>
              <a:rPr sz="1200">
                <a:solidFill>
                  <a:srgbClr val="5F656E"/>
                </a:solidFill>
                <a:latin typeface="Calibri"/>
              </a:rPr>
              <a:t>HTTP/gRPC для синхронного взаимодействия; Kafka — для async facts.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2743200" cy="960120"/>
          </a:xfrm>
          <a:prstGeom prst="roundRect">
            <a:avLst/>
          </a:prstGeom>
          <a:solidFill>
            <a:srgbClr val="FFF1F1"/>
          </a:solidFill>
          <a:ln w="19050">
            <a:solidFill>
              <a:srgbClr val="C9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Calibri"/>
              </a:rPr>
              <a:t>Один universal topic</a:t>
            </a:r>
          </a:p>
          <a:p>
            <a:pPr algn="l">
              <a:spcBef>
                <a:spcPts val="700"/>
              </a:spcBef>
            </a:pPr>
            <a:r>
              <a:rPr sz="1100">
                <a:solidFill>
                  <a:srgbClr val="5F656E"/>
                </a:solidFill>
                <a:latin typeface="Calibri"/>
              </a:rPr>
              <a:t>Все типы событий смешаны; ACL, retention и ownership неразделимы.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83280" y="3035808"/>
            <a:ext cx="594359" cy="0"/>
          </a:xfrm>
          <a:prstGeom prst="line">
            <a:avLst/>
          </a:prstGeom>
          <a:ln w="25400">
            <a:solidFill>
              <a:srgbClr val="C9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069080" y="2560320"/>
            <a:ext cx="7452360" cy="960120"/>
          </a:xfrm>
          <a:prstGeom prst="roundRect">
            <a:avLst/>
          </a:prstGeom>
          <a:solidFill>
            <a:srgbClr val="E8F9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>
                <a:solidFill>
                  <a:srgbClr val="232323"/>
                </a:solidFill>
                <a:latin typeface="Calibri"/>
              </a:rPr>
              <a:t>Рефакторинг</a:t>
            </a:r>
          </a:p>
          <a:p>
            <a:pPr algn="l">
              <a:spcBef>
                <a:spcPts val="700"/>
              </a:spcBef>
            </a:pPr>
            <a:r>
              <a:rPr sz="1200">
                <a:solidFill>
                  <a:srgbClr val="5F656E"/>
                </a:solidFill>
                <a:latin typeface="Calibri"/>
              </a:rPr>
              <a:t>Топики по домену/назначению, понятный контракт и владелец.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94760"/>
            <a:ext cx="2743200" cy="960120"/>
          </a:xfrm>
          <a:prstGeom prst="roundRect">
            <a:avLst/>
          </a:prstGeom>
          <a:solidFill>
            <a:srgbClr val="FFF1F1"/>
          </a:solidFill>
          <a:ln w="19050">
            <a:solidFill>
              <a:srgbClr val="C9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Calibri"/>
              </a:rPr>
              <a:t>Shared consumer group</a:t>
            </a:r>
          </a:p>
          <a:p>
            <a:pPr algn="l">
              <a:spcBef>
                <a:spcPts val="700"/>
              </a:spcBef>
            </a:pPr>
            <a:r>
              <a:rPr sz="1100">
                <a:solidFill>
                  <a:srgbClr val="5F656E"/>
                </a:solidFill>
                <a:latin typeface="Calibri"/>
              </a:rPr>
              <a:t>Billing и Notifications используют один group.id.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83280" y="4270248"/>
            <a:ext cx="594359" cy="0"/>
          </a:xfrm>
          <a:prstGeom prst="line">
            <a:avLst/>
          </a:prstGeom>
          <a:ln w="25400">
            <a:solidFill>
              <a:srgbClr val="C9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069080" y="3794760"/>
            <a:ext cx="7452360" cy="960120"/>
          </a:xfrm>
          <a:prstGeom prst="roundRect">
            <a:avLst/>
          </a:prstGeom>
          <a:solidFill>
            <a:srgbClr val="E8F9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>
                <a:solidFill>
                  <a:srgbClr val="232323"/>
                </a:solidFill>
                <a:latin typeface="Calibri"/>
              </a:rPr>
              <a:t>Рефакторинг</a:t>
            </a:r>
          </a:p>
          <a:p>
            <a:pPr algn="l">
              <a:spcBef>
                <a:spcPts val="700"/>
              </a:spcBef>
            </a:pPr>
            <a:r>
              <a:rPr sz="1200">
                <a:solidFill>
                  <a:srgbClr val="5F656E"/>
                </a:solidFill>
                <a:latin typeface="Calibri"/>
              </a:rPr>
              <a:t>Отдельная группа на независимую бизнес-функцию.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29200"/>
            <a:ext cx="2743200" cy="960120"/>
          </a:xfrm>
          <a:prstGeom prst="roundRect">
            <a:avLst/>
          </a:prstGeom>
          <a:solidFill>
            <a:srgbClr val="FFF1F1"/>
          </a:solidFill>
          <a:ln w="19050">
            <a:solidFill>
              <a:srgbClr val="C9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Calibri"/>
              </a:rPr>
              <a:t>Message без key</a:t>
            </a:r>
          </a:p>
          <a:p>
            <a:pPr algn="l">
              <a:spcBef>
                <a:spcPts val="700"/>
              </a:spcBef>
            </a:pPr>
            <a:r>
              <a:rPr sz="1100">
                <a:solidFill>
                  <a:srgbClr val="5F656E"/>
                </a:solidFill>
                <a:latin typeface="Calibri"/>
              </a:rPr>
              <a:t>Нужен порядок по entity, но key=null.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83280" y="5504688"/>
            <a:ext cx="594359" cy="0"/>
          </a:xfrm>
          <a:prstGeom prst="line">
            <a:avLst/>
          </a:prstGeom>
          <a:ln w="25400">
            <a:solidFill>
              <a:srgbClr val="C9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069080" y="5029200"/>
            <a:ext cx="7452360" cy="960120"/>
          </a:xfrm>
          <a:prstGeom prst="roundRect">
            <a:avLst/>
          </a:prstGeom>
          <a:solidFill>
            <a:srgbClr val="E8F9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>
                <a:solidFill>
                  <a:srgbClr val="232323"/>
                </a:solidFill>
                <a:latin typeface="Calibri"/>
              </a:rPr>
              <a:t>Рефакторинг</a:t>
            </a:r>
          </a:p>
          <a:p>
            <a:pPr algn="l">
              <a:spcBef>
                <a:spcPts val="700"/>
              </a:spcBef>
            </a:pPr>
            <a:r>
              <a:rPr sz="1200">
                <a:solidFill>
                  <a:srgbClr val="5F656E"/>
                </a:solidFill>
                <a:latin typeface="Calibri"/>
              </a:rPr>
              <a:t>Стабильный business key, отражающий единицу порядка.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19191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18872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Антипаттерны II: эксплуатационные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2743200" cy="960120"/>
          </a:xfrm>
          <a:prstGeom prst="roundRect">
            <a:avLst/>
          </a:prstGeom>
          <a:solidFill>
            <a:srgbClr val="FFF1F1"/>
          </a:solidFill>
          <a:ln w="19050">
            <a:solidFill>
              <a:srgbClr val="C9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Calibri"/>
              </a:rPr>
              <a:t>Бесконтрольные partitions</a:t>
            </a:r>
          </a:p>
          <a:p>
            <a:pPr algn="l">
              <a:spcBef>
                <a:spcPts val="700"/>
              </a:spcBef>
            </a:pPr>
            <a:r>
              <a:rPr sz="1100">
                <a:solidFill>
                  <a:srgbClr val="5F656E"/>
                </a:solidFill>
                <a:latin typeface="Calibri"/>
              </a:rPr>
              <a:t>«Добавим 200 на всякий случай»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383280" y="1801368"/>
            <a:ext cx="594359" cy="0"/>
          </a:xfrm>
          <a:prstGeom prst="line">
            <a:avLst/>
          </a:prstGeom>
          <a:ln w="25400">
            <a:solidFill>
              <a:srgbClr val="C9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069080" y="1325880"/>
            <a:ext cx="7452360" cy="960120"/>
          </a:xfrm>
          <a:prstGeom prst="roundRect">
            <a:avLst/>
          </a:prstGeom>
          <a:solidFill>
            <a:srgbClr val="F1F2FF"/>
          </a:solidFill>
          <a:ln w="19050">
            <a:solidFill>
              <a:srgbClr val="37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>
                <a:solidFill>
                  <a:srgbClr val="232323"/>
                </a:solidFill>
                <a:latin typeface="Calibri"/>
              </a:rPr>
              <a:t>Что делать</a:t>
            </a:r>
          </a:p>
          <a:p>
            <a:pPr algn="l">
              <a:spcBef>
                <a:spcPts val="700"/>
              </a:spcBef>
            </a:pPr>
            <a:r>
              <a:rPr sz="1200">
                <a:solidFill>
                  <a:srgbClr val="5F656E"/>
                </a:solidFill>
                <a:latin typeface="Calibri"/>
              </a:rPr>
              <a:t>Capacity planning: throughput, consumer parallelism, broker limits, growth.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2743200" cy="960120"/>
          </a:xfrm>
          <a:prstGeom prst="roundRect">
            <a:avLst/>
          </a:prstGeom>
          <a:solidFill>
            <a:srgbClr val="FFF1F1"/>
          </a:solidFill>
          <a:ln w="19050">
            <a:solidFill>
              <a:srgbClr val="C9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Calibri"/>
              </a:rPr>
              <a:t>Бесконечные retries</a:t>
            </a:r>
          </a:p>
          <a:p>
            <a:pPr algn="l">
              <a:spcBef>
                <a:spcPts val="700"/>
              </a:spcBef>
            </a:pPr>
            <a:r>
              <a:rPr sz="1100">
                <a:solidFill>
                  <a:srgbClr val="5F656E"/>
                </a:solidFill>
                <a:latin typeface="Calibri"/>
              </a:rPr>
              <a:t>Poison message крутится часами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83280" y="3035808"/>
            <a:ext cx="594359" cy="0"/>
          </a:xfrm>
          <a:prstGeom prst="line">
            <a:avLst/>
          </a:prstGeom>
          <a:ln w="25400">
            <a:solidFill>
              <a:srgbClr val="C9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069080" y="2560320"/>
            <a:ext cx="7452360" cy="960120"/>
          </a:xfrm>
          <a:prstGeom prst="roundRect">
            <a:avLst/>
          </a:prstGeom>
          <a:solidFill>
            <a:srgbClr val="F1F2FF"/>
          </a:solidFill>
          <a:ln w="19050">
            <a:solidFill>
              <a:srgbClr val="37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>
                <a:solidFill>
                  <a:srgbClr val="232323"/>
                </a:solidFill>
                <a:latin typeface="Calibri"/>
              </a:rPr>
              <a:t>Что делать</a:t>
            </a:r>
          </a:p>
          <a:p>
            <a:pPr algn="l">
              <a:spcBef>
                <a:spcPts val="700"/>
              </a:spcBef>
            </a:pPr>
            <a:r>
              <a:rPr sz="1200">
                <a:solidFill>
                  <a:srgbClr val="5F656E"/>
                </a:solidFill>
                <a:latin typeface="Calibri"/>
              </a:rPr>
              <a:t>Backoff + max attempts + DLT + классификация ошибок.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94760"/>
            <a:ext cx="2743200" cy="960120"/>
          </a:xfrm>
          <a:prstGeom prst="roundRect">
            <a:avLst/>
          </a:prstGeom>
          <a:solidFill>
            <a:srgbClr val="FFF1F1"/>
          </a:solidFill>
          <a:ln w="19050">
            <a:solidFill>
              <a:srgbClr val="C9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Calibri"/>
              </a:rPr>
              <a:t>DLT без процесса</a:t>
            </a:r>
          </a:p>
          <a:p>
            <a:pPr algn="l">
              <a:spcBef>
                <a:spcPts val="700"/>
              </a:spcBef>
            </a:pPr>
            <a:r>
              <a:rPr sz="1100">
                <a:solidFill>
                  <a:srgbClr val="5F656E"/>
                </a:solidFill>
                <a:latin typeface="Calibri"/>
              </a:rPr>
              <a:t>Сообщения копятся, никто не отвечает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83280" y="4270248"/>
            <a:ext cx="594359" cy="0"/>
          </a:xfrm>
          <a:prstGeom prst="line">
            <a:avLst/>
          </a:prstGeom>
          <a:ln w="25400">
            <a:solidFill>
              <a:srgbClr val="C9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069080" y="3794760"/>
            <a:ext cx="7452360" cy="960120"/>
          </a:xfrm>
          <a:prstGeom prst="roundRect">
            <a:avLst/>
          </a:prstGeom>
          <a:solidFill>
            <a:srgbClr val="F1F2FF"/>
          </a:solidFill>
          <a:ln w="19050">
            <a:solidFill>
              <a:srgbClr val="37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>
                <a:solidFill>
                  <a:srgbClr val="232323"/>
                </a:solidFill>
                <a:latin typeface="Calibri"/>
              </a:rPr>
              <a:t>Что делать</a:t>
            </a:r>
          </a:p>
          <a:p>
            <a:pPr algn="l">
              <a:spcBef>
                <a:spcPts val="700"/>
              </a:spcBef>
            </a:pPr>
            <a:r>
              <a:rPr sz="1200">
                <a:solidFill>
                  <a:srgbClr val="5F656E"/>
                </a:solidFill>
                <a:latin typeface="Calibri"/>
              </a:rPr>
              <a:t>Owner, alert, dashboard, runbook, replay procedure.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29200"/>
            <a:ext cx="2743200" cy="960120"/>
          </a:xfrm>
          <a:prstGeom prst="roundRect">
            <a:avLst/>
          </a:prstGeom>
          <a:solidFill>
            <a:srgbClr val="FFF1F1"/>
          </a:solidFill>
          <a:ln w="19050">
            <a:solidFill>
              <a:srgbClr val="C9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Calibri"/>
              </a:rPr>
              <a:t>Breaking schema</a:t>
            </a:r>
          </a:p>
          <a:p>
            <a:pPr algn="l">
              <a:spcBef>
                <a:spcPts val="700"/>
              </a:spcBef>
            </a:pPr>
            <a:r>
              <a:rPr sz="1100">
                <a:solidFill>
                  <a:srgbClr val="5F656E"/>
                </a:solidFill>
                <a:latin typeface="Calibri"/>
              </a:rPr>
              <a:t>Удалили/переименовали поле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83280" y="5504688"/>
            <a:ext cx="594359" cy="0"/>
          </a:xfrm>
          <a:prstGeom prst="line">
            <a:avLst/>
          </a:prstGeom>
          <a:ln w="25400">
            <a:solidFill>
              <a:srgbClr val="C9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069080" y="5029200"/>
            <a:ext cx="7452360" cy="960120"/>
          </a:xfrm>
          <a:prstGeom prst="roundRect">
            <a:avLst/>
          </a:prstGeom>
          <a:solidFill>
            <a:srgbClr val="F1F2FF"/>
          </a:solidFill>
          <a:ln w="19050">
            <a:solidFill>
              <a:srgbClr val="37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>
                <a:solidFill>
                  <a:srgbClr val="232323"/>
                </a:solidFill>
                <a:latin typeface="Calibri"/>
              </a:rPr>
              <a:t>Что делать</a:t>
            </a:r>
          </a:p>
          <a:p>
            <a:pPr algn="l">
              <a:spcBef>
                <a:spcPts val="700"/>
              </a:spcBef>
            </a:pPr>
            <a:r>
              <a:rPr sz="1200">
                <a:solidFill>
                  <a:srgbClr val="5F656E"/>
                </a:solidFill>
                <a:latin typeface="Calibri"/>
              </a:rPr>
              <a:t>Compatibility policy + schema registry/CI checks + staged migration.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19191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18872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Типовой enterprise-сценарий: заказ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F656E"/>
                </a:solidFill>
                <a:latin typeface="Calibri"/>
              </a:rPr>
              <a:t>Цель: разорвать временную связность сервисов и дать каждому свой темп обработки.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48840"/>
            <a:ext cx="1691640" cy="914400"/>
          </a:xfrm>
          <a:prstGeom prst="roundRect">
            <a:avLst/>
          </a:prstGeom>
          <a:solidFill>
            <a:srgbClr val="E8F9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>
                <a:solidFill>
                  <a:srgbClr val="232323"/>
                </a:solidFill>
                <a:latin typeface="Calibri"/>
              </a:rPr>
              <a:t>Order 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148840"/>
            <a:ext cx="1691640" cy="914400"/>
          </a:xfrm>
          <a:prstGeom prst="roundRect">
            <a:avLst/>
          </a:prstGeom>
          <a:solidFill>
            <a:srgbClr val="E8F9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>
                <a:solidFill>
                  <a:srgbClr val="232323"/>
                </a:solidFill>
                <a:latin typeface="Calibri"/>
              </a:rPr>
              <a:t>Kafka
orders.events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1508760"/>
            <a:ext cx="1691640" cy="914400"/>
          </a:xfrm>
          <a:prstGeom prst="roundRect">
            <a:avLst/>
          </a:prstGeom>
          <a:solidFill>
            <a:srgbClr val="F1F2FF"/>
          </a:solidFill>
          <a:ln w="19050">
            <a:solidFill>
              <a:srgbClr val="37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>
                <a:solidFill>
                  <a:srgbClr val="232323"/>
                </a:solidFill>
                <a:latin typeface="Calibri"/>
              </a:rPr>
              <a:t>Payment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2788920"/>
            <a:ext cx="1691640" cy="914400"/>
          </a:xfrm>
          <a:prstGeom prst="roundRect">
            <a:avLst/>
          </a:prstGeom>
          <a:solidFill>
            <a:srgbClr val="F1F2FF"/>
          </a:solidFill>
          <a:ln w="19050">
            <a:solidFill>
              <a:srgbClr val="37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>
                <a:solidFill>
                  <a:srgbClr val="232323"/>
                </a:solidFill>
                <a:latin typeface="Calibri"/>
              </a:rPr>
              <a:t>Warehouse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508760"/>
            <a:ext cx="1691640" cy="914400"/>
          </a:xfrm>
          <a:prstGeom prst="roundRect">
            <a:avLst/>
          </a:prstGeom>
          <a:solidFill>
            <a:srgbClr val="E8F9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>
                <a:solidFill>
                  <a:srgbClr val="232323"/>
                </a:solidFill>
                <a:latin typeface="Calibri"/>
              </a:rPr>
              <a:t>Notifications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788920"/>
            <a:ext cx="1691640" cy="914400"/>
          </a:xfrm>
          <a:prstGeom prst="roundRect">
            <a:avLst/>
          </a:prstGeom>
          <a:solidFill>
            <a:srgbClr val="E8F9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>
                <a:solidFill>
                  <a:srgbClr val="232323"/>
                </a:solidFill>
                <a:latin typeface="Calibri"/>
              </a:rPr>
              <a:t>Analytics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2148840"/>
            <a:ext cx="1691640" cy="914400"/>
          </a:xfrm>
          <a:prstGeom prst="roundRect">
            <a:avLst/>
          </a:prstGeom>
          <a:solidFill>
            <a:srgbClr val="F1F2FF"/>
          </a:solidFill>
          <a:ln w="19050">
            <a:solidFill>
              <a:srgbClr val="37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>
                <a:solidFill>
                  <a:srgbClr val="232323"/>
                </a:solidFill>
                <a:latin typeface="Calibri"/>
              </a:rPr>
              <a:t>Audit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48840" y="2606040"/>
            <a:ext cx="594360" cy="0"/>
          </a:xfrm>
          <a:prstGeom prst="line">
            <a:avLst/>
          </a:prstGeom>
          <a:ln w="31750">
            <a:solidFill>
              <a:srgbClr val="00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434840" y="1965960"/>
            <a:ext cx="777240" cy="640080"/>
          </a:xfrm>
          <a:prstGeom prst="line">
            <a:avLst/>
          </a:prstGeom>
          <a:ln w="31750">
            <a:solidFill>
              <a:srgbClr val="00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434840" y="2606040"/>
            <a:ext cx="777240" cy="640080"/>
          </a:xfrm>
          <a:prstGeom prst="line">
            <a:avLst/>
          </a:prstGeom>
          <a:ln w="31750">
            <a:solidFill>
              <a:srgbClr val="00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03720" y="1965960"/>
            <a:ext cx="777240" cy="0"/>
          </a:xfrm>
          <a:prstGeom prst="line">
            <a:avLst/>
          </a:prstGeom>
          <a:ln w="31750">
            <a:solidFill>
              <a:srgbClr val="00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903720" y="3246120"/>
            <a:ext cx="777240" cy="0"/>
          </a:xfrm>
          <a:prstGeom prst="line">
            <a:avLst/>
          </a:prstGeom>
          <a:ln w="31750">
            <a:solidFill>
              <a:srgbClr val="00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372600" y="1965960"/>
            <a:ext cx="685800" cy="640080"/>
          </a:xfrm>
          <a:prstGeom prst="line">
            <a:avLst/>
          </a:prstGeom>
          <a:ln w="31750">
            <a:solidFill>
              <a:srgbClr val="00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372600" y="2606040"/>
            <a:ext cx="685800" cy="640080"/>
          </a:xfrm>
          <a:prstGeom prst="line">
            <a:avLst/>
          </a:prstGeom>
          <a:ln w="31750">
            <a:solidFill>
              <a:srgbClr val="00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48006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32323"/>
                </a:solidFill>
                <a:latin typeface="Calibri"/>
              </a:rPr>
              <a:t>Вопросы к схеме: key=orderId? кто владеет контрактом? какие group.id? что происходит при падении Payment? где retry/DLT? как трассировать orderId=42?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19191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18872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Практика: найти ошибки проектирования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402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dirty="0" err="1">
                <a:solidFill>
                  <a:srgbClr val="C93A3A"/>
                </a:solidFill>
                <a:latin typeface="Calibri"/>
              </a:rPr>
              <a:t>Схема</a:t>
            </a:r>
            <a:r>
              <a:rPr sz="1900" b="1" dirty="0">
                <a:solidFill>
                  <a:srgbClr val="C93A3A"/>
                </a:solidFill>
                <a:latin typeface="Calibri"/>
              </a:rPr>
              <a:t> </a:t>
            </a:r>
            <a:r>
              <a:rPr sz="1900" b="1" dirty="0" err="1">
                <a:solidFill>
                  <a:srgbClr val="C93A3A"/>
                </a:solidFill>
                <a:latin typeface="Calibri"/>
              </a:rPr>
              <a:t>намеренно</a:t>
            </a:r>
            <a:r>
              <a:rPr sz="1900" b="1" dirty="0">
                <a:solidFill>
                  <a:srgbClr val="C93A3A"/>
                </a:solidFill>
                <a:latin typeface="Calibri"/>
              </a:rPr>
              <a:t> </a:t>
            </a:r>
            <a:r>
              <a:rPr sz="1900" b="1" dirty="0" err="1">
                <a:solidFill>
                  <a:srgbClr val="C93A3A"/>
                </a:solidFill>
                <a:latin typeface="Calibri"/>
              </a:rPr>
              <a:t>плохая</a:t>
            </a:r>
            <a:r>
              <a:rPr sz="1900" b="1" dirty="0">
                <a:solidFill>
                  <a:srgbClr val="C93A3A"/>
                </a:solidFill>
                <a:latin typeface="Calibri"/>
              </a:rPr>
              <a:t>. </a:t>
            </a:r>
            <a:r>
              <a:rPr sz="1900" b="1" dirty="0" err="1">
                <a:solidFill>
                  <a:srgbClr val="C93A3A"/>
                </a:solidFill>
                <a:latin typeface="Calibri"/>
              </a:rPr>
              <a:t>Найдите</a:t>
            </a:r>
            <a:r>
              <a:rPr sz="1900" b="1" dirty="0">
                <a:solidFill>
                  <a:srgbClr val="C93A3A"/>
                </a:solidFill>
                <a:latin typeface="Calibri"/>
              </a:rPr>
              <a:t> </a:t>
            </a:r>
            <a:r>
              <a:rPr sz="1900" b="1" dirty="0" err="1">
                <a:solidFill>
                  <a:srgbClr val="C93A3A"/>
                </a:solidFill>
                <a:latin typeface="Calibri"/>
              </a:rPr>
              <a:t>минимум</a:t>
            </a:r>
            <a:r>
              <a:rPr sz="1900" b="1" dirty="0">
                <a:solidFill>
                  <a:srgbClr val="C93A3A"/>
                </a:solidFill>
                <a:latin typeface="Calibri"/>
              </a:rPr>
              <a:t> 6 </a:t>
            </a:r>
            <a:r>
              <a:rPr sz="1900" b="1" dirty="0" err="1">
                <a:solidFill>
                  <a:srgbClr val="C93A3A"/>
                </a:solidFill>
                <a:latin typeface="Calibri"/>
              </a:rPr>
              <a:t>проблем</a:t>
            </a:r>
            <a:r>
              <a:rPr sz="1900" b="1" dirty="0">
                <a:solidFill>
                  <a:srgbClr val="C93A3A"/>
                </a:solidFill>
                <a:latin typeface="Calibr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1828800" cy="914400"/>
          </a:xfrm>
          <a:prstGeom prst="roundRect">
            <a:avLst/>
          </a:prstGeom>
          <a:solidFill>
            <a:srgbClr val="E8F9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700" b="1" dirty="0">
                <a:solidFill>
                  <a:srgbClr val="232323"/>
                </a:solidFill>
                <a:latin typeface="Calibri"/>
              </a:rPr>
              <a:t>Checkout</a:t>
            </a:r>
          </a:p>
          <a:p>
            <a:pPr algn="l">
              <a:spcBef>
                <a:spcPts val="700"/>
              </a:spcBef>
            </a:pPr>
            <a:r>
              <a:rPr sz="1200" dirty="0">
                <a:solidFill>
                  <a:srgbClr val="5F656E"/>
                </a:solidFill>
                <a:latin typeface="Calibri"/>
              </a:rPr>
              <a:t>HTTP request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1874519"/>
            <a:ext cx="1965960" cy="914400"/>
          </a:xfrm>
          <a:prstGeom prst="roundRect">
            <a:avLst/>
          </a:prstGeom>
          <a:solidFill>
            <a:srgbClr val="FFF1F1"/>
          </a:solidFill>
          <a:ln w="19050">
            <a:solidFill>
              <a:srgbClr val="C9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800" b="1" dirty="0">
                <a:solidFill>
                  <a:srgbClr val="232323"/>
                </a:solidFill>
                <a:latin typeface="Calibri"/>
              </a:rPr>
              <a:t>Kafka</a:t>
            </a:r>
          </a:p>
          <a:p>
            <a:pPr algn="l">
              <a:spcBef>
                <a:spcPts val="700"/>
              </a:spcBef>
            </a:pPr>
            <a:r>
              <a:rPr sz="1200" dirty="0">
                <a:solidFill>
                  <a:srgbClr val="5F656E"/>
                </a:solidFill>
                <a:latin typeface="Calibri"/>
              </a:rPr>
              <a:t>topic=all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325880"/>
            <a:ext cx="1965960" cy="914400"/>
          </a:xfrm>
          <a:prstGeom prst="roundRect">
            <a:avLst/>
          </a:prstGeom>
          <a:solidFill>
            <a:srgbClr val="F1F2FF"/>
          </a:solidFill>
          <a:ln w="19050">
            <a:solidFill>
              <a:srgbClr val="37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 dirty="0">
                <a:solidFill>
                  <a:srgbClr val="232323"/>
                </a:solidFill>
                <a:latin typeface="Calibri"/>
              </a:rPr>
              <a:t>Payment</a:t>
            </a:r>
          </a:p>
          <a:p>
            <a:pPr algn="l">
              <a:spcBef>
                <a:spcPts val="700"/>
              </a:spcBef>
            </a:pPr>
            <a:r>
              <a:rPr sz="1200" dirty="0">
                <a:solidFill>
                  <a:srgbClr val="5F656E"/>
                </a:solidFill>
                <a:latin typeface="Calibri"/>
              </a:rPr>
              <a:t>group=shared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743200"/>
            <a:ext cx="1965960" cy="914400"/>
          </a:xfrm>
          <a:prstGeom prst="roundRect">
            <a:avLst/>
          </a:prstGeom>
          <a:solidFill>
            <a:srgbClr val="F1F2FF"/>
          </a:solidFill>
          <a:ln w="19050">
            <a:solidFill>
              <a:srgbClr val="37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Calibri"/>
              </a:rPr>
              <a:t>Email</a:t>
            </a:r>
          </a:p>
          <a:p>
            <a:pPr algn="l">
              <a:spcBef>
                <a:spcPts val="700"/>
              </a:spcBef>
            </a:pPr>
            <a:r>
              <a:rPr sz="1200">
                <a:solidFill>
                  <a:srgbClr val="5F656E"/>
                </a:solidFill>
                <a:latin typeface="Calibri"/>
              </a:rPr>
              <a:t>group=shared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874519"/>
            <a:ext cx="1965960" cy="914400"/>
          </a:xfrm>
          <a:prstGeom prst="roundRect">
            <a:avLst/>
          </a:prstGeom>
          <a:solidFill>
            <a:srgbClr val="FFF1F1"/>
          </a:solidFill>
          <a:ln w="19050">
            <a:solidFill>
              <a:srgbClr val="C9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Calibri"/>
              </a:rPr>
              <a:t>Consumer</a:t>
            </a:r>
          </a:p>
          <a:p>
            <a:pPr algn="l">
              <a:spcBef>
                <a:spcPts val="700"/>
              </a:spcBef>
            </a:pPr>
            <a:r>
              <a:rPr sz="1200">
                <a:solidFill>
                  <a:srgbClr val="5F656E"/>
                </a:solidFill>
                <a:latin typeface="Calibri"/>
              </a:rPr>
              <a:t>retry=∞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61320" y="1874519"/>
            <a:ext cx="1051560" cy="914400"/>
          </a:xfrm>
          <a:prstGeom prst="roundRect">
            <a:avLst/>
          </a:prstGeom>
          <a:solidFill>
            <a:srgbClr val="FFF1F1"/>
          </a:solidFill>
          <a:ln w="19050">
            <a:solidFill>
              <a:srgbClr val="C9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Calibri"/>
              </a:rPr>
              <a:t>DLT</a:t>
            </a:r>
          </a:p>
          <a:p>
            <a:pPr algn="l">
              <a:spcBef>
                <a:spcPts val="700"/>
              </a:spcBef>
            </a:pPr>
            <a:r>
              <a:rPr sz="1200">
                <a:solidFill>
                  <a:srgbClr val="5F656E"/>
                </a:solidFill>
                <a:latin typeface="Calibri"/>
              </a:rPr>
              <a:t>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23160" y="2331720"/>
            <a:ext cx="640080" cy="0"/>
          </a:xfrm>
          <a:prstGeom prst="line">
            <a:avLst/>
          </a:prstGeom>
          <a:ln w="31750">
            <a:solidFill>
              <a:srgbClr val="00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029200" y="1783080"/>
            <a:ext cx="640080" cy="548640"/>
          </a:xfrm>
          <a:prstGeom prst="line">
            <a:avLst/>
          </a:prstGeom>
          <a:ln w="31750">
            <a:solidFill>
              <a:srgbClr val="00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200" y="2331720"/>
            <a:ext cx="640080" cy="868680"/>
          </a:xfrm>
          <a:prstGeom prst="line">
            <a:avLst/>
          </a:prstGeom>
          <a:ln w="31750">
            <a:solidFill>
              <a:srgbClr val="00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35240" y="1783080"/>
            <a:ext cx="685800" cy="548640"/>
          </a:xfrm>
          <a:prstGeom prst="line">
            <a:avLst/>
          </a:prstGeom>
          <a:ln w="31750">
            <a:solidFill>
              <a:srgbClr val="00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287000" y="2331720"/>
            <a:ext cx="274320" cy="0"/>
          </a:xfrm>
          <a:prstGeom prst="line">
            <a:avLst/>
          </a:prstGeom>
          <a:ln w="31750">
            <a:solidFill>
              <a:srgbClr val="00BE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41605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•  Подсказки: universal topic; shared group; неизвестный key; ожидание синхронного ответа; infinite retry; DLT без owner; контракт без version; нет идемпотентности.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  <a:latin typeface="Calibri"/>
              </a:defRPr>
            </a:pPr>
            <a:r>
              <a:t>•  Для каждой найденной проблемы назовите не только «как исправить», но и какой trade-off появится после исправления.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19191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18872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Java-практика: producer с ключом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5943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Courier New"/>
              </a:rPr>
              <a:t>ProducerRecord&lt;String, OrderPaid&gt; record =
    new ProducerRecord&lt;&gt;(
        "orders.events",
        event.orderId(),   // key: единица порядка
        event
    );
kafkaTemplate.send(record)
    .whenComplete((result, ex) -&gt; {
        if (ex != null) {
            log.error("publish failed eventId={}",
                      event.eventId(), ex);
        }
    });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1417320"/>
            <a:ext cx="4983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•  Key выбираем из требования к порядку, а не «чтобы был».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•  acks/idempotence/retries producer-а — эксплуатационные настройки, но они не заменяют бизнес-идемпотентность.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•  В логах нужны eventId, key, topic; payload целиком логировать не всегда безопасно.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•  Publish из DB-транзакции напрямую → риск dual write; для бизнес-критичных событий используйте outbox.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19191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18872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Java-практика: consumer group и идемпотентность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5760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Courier New"/>
              </a:rPr>
              <a:t>@KafkaListener(
  topics = "orders.events",
  groupId = "billing-service"
)
@Transactional
public void on(OrderPaid event) {
    if (inbox.exists(event.eventId())) {
        return;
    }
    billing.applyPayment(event);
    inbox.markProcessed(event.eventId());
    // offset commit — после успешной обработки
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41732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•  groupId отражает бизнес-функцию: billing-service ≠ notification-service.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•  Повторная доставка не должна повторно списывать деньги или создавать дубль записи.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•  Ошибки сериализации и business validation не надо бесконечно retry-ить одинаково.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•  Проверьте: concurrency не превышает разумно число partitions; lag наблюдаем; rebalance не ломает обработку.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19191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18872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Рефакторинг двух антипаттернов: решение и trade-offs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5349240" cy="1965960"/>
          </a:xfrm>
          <a:prstGeom prst="roundRect">
            <a:avLst/>
          </a:prstGeom>
          <a:solidFill>
            <a:srgbClr val="E8F9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900" b="1">
                <a:solidFill>
                  <a:srgbClr val="232323"/>
                </a:solidFill>
                <a:latin typeface="Calibri"/>
              </a:rPr>
              <a:t>1. Kafka как синхронный RPC</a:t>
            </a:r>
          </a:p>
          <a:p>
            <a:pPr algn="l">
              <a:spcBef>
                <a:spcPts val="700"/>
              </a:spcBef>
            </a:pPr>
            <a:r>
              <a:rPr sz="1400">
                <a:solidFill>
                  <a:srgbClr val="5F656E"/>
                </a:solidFill>
                <a:latin typeface="Calibri"/>
              </a:rPr>
              <a:t>Было: UI → Service A → Kafka request → Kafka response → UI.
Стало: UI → HTTP/gRPC Service A; Service A после commit публикует событие для downstream.
Trade-off: часть downstream становится eventually consistent.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371600"/>
            <a:ext cx="5349240" cy="1965960"/>
          </a:xfrm>
          <a:prstGeom prst="roundRect">
            <a:avLst/>
          </a:prstGeom>
          <a:solidFill>
            <a:srgbClr val="F1F2FF"/>
          </a:solidFill>
          <a:ln w="19050">
            <a:solidFill>
              <a:srgbClr val="37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900" b="1">
                <a:solidFill>
                  <a:srgbClr val="232323"/>
                </a:solidFill>
                <a:latin typeface="Calibri"/>
              </a:rPr>
              <a:t>2. Shared consumer group</a:t>
            </a:r>
          </a:p>
          <a:p>
            <a:pPr algn="l">
              <a:spcBef>
                <a:spcPts val="700"/>
              </a:spcBef>
            </a:pPr>
            <a:r>
              <a:rPr sz="1400">
                <a:solidFill>
                  <a:srgbClr val="5F656E"/>
                </a:solidFill>
                <a:latin typeface="Calibri"/>
              </a:rPr>
              <a:t>Было: billing и notification читают orders.events с group=orders.
Стало: group=billing-service и group=notification-service.
Trade-off: каждое событие обрабатывается дважды разными функциями; растёт суммарная нагрузка.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862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32323"/>
                </a:solidFill>
                <a:latin typeface="Calibri"/>
              </a:rPr>
              <a:t>Обсуждение: где именно вы хотите независимость — по времени, по масштабированию, по отказам, по релизам, по данным?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00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BEC1"/>
                </a:solidFill>
                <a:latin typeface="Calibri"/>
              </a:rPr>
              <a:t>Хороший Kafka-дизайн начинается не с топиков, а с формулировки требуемых свойств системы.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19191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18872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Итог: чек-лист архитектурного разбора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73152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•  Что является событием-фактом, а что командой/запросом?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•  Какой key и какая единица порядка? Сколько partitions действительно нужно?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•  Какие независимые бизнес-функции читают событие и какие у них consumer groups?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•  Какая семантика повторной доставки? Где idempotency/inbox?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•  Как устраняется dual write? Нужен ли transactional outbox?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•  Как устроены retry, backoff, DLT и процесс разбора?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•  Как эволюционирует schema и кто владеет контрактом?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•  Какие метрики обязательны: producer errors, consumer lag, rebalance, retry/DLT backlog?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  <a:latin typeface="Calibri"/>
              </a:defRPr>
            </a:pPr>
            <a:r>
              <a:t>•  Почему здесь Kafka лучше HTTP/gRPC, очереди или прямой работы с БД?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417320"/>
            <a:ext cx="3337560" cy="3291840"/>
          </a:xfrm>
          <a:prstGeom prst="roundRect">
            <a:avLst/>
          </a:prstGeom>
          <a:solidFill>
            <a:srgbClr val="E8F9F9"/>
          </a:solidFill>
          <a:ln w="19050">
            <a:solidFill>
              <a:srgbClr val="00B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100" b="1">
                <a:solidFill>
                  <a:srgbClr val="232323"/>
                </a:solidFill>
                <a:latin typeface="Calibri"/>
              </a:rPr>
              <a:t>Результат занятия</a:t>
            </a:r>
          </a:p>
          <a:p>
            <a:pPr algn="l">
              <a:spcBef>
                <a:spcPts val="700"/>
              </a:spcBef>
            </a:pPr>
            <a:r>
              <a:rPr sz="1700">
                <a:solidFill>
                  <a:srgbClr val="5F656E"/>
                </a:solidFill>
                <a:latin typeface="Calibri"/>
              </a:rPr>
              <a:t>Dev и DevOps используют единые термины, понимают producer → topic/partition → consumer group и умеют распознавать основные паттерны/антипаттерны.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516636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74ED8"/>
                </a:solidFill>
                <a:latin typeface="Calibri"/>
              </a:rPr>
              <a:t>Спасибо! Вопросы?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19191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2380</Words>
  <Application>Microsoft Office PowerPoint</Application>
  <PresentationFormat>Widescreen</PresentationFormat>
  <Paragraphs>268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Valentin Shilin</cp:lastModifiedBy>
  <cp:revision>2</cp:revision>
  <dcterms:created xsi:type="dcterms:W3CDTF">2013-01-27T09:14:16Z</dcterms:created>
  <dcterms:modified xsi:type="dcterms:W3CDTF">2026-08-14T22:51:21Z</dcterms:modified>
  <cp:category/>
</cp:coreProperties>
</file>